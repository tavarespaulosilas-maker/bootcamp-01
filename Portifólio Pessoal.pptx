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</p:sldIdLst>
  <p:sldSz cy="5143500" cx="9144000"/>
  <p:notesSz cx="6858000" cy="9144000"/>
  <p:embeddedFontLst>
    <p:embeddedFont>
      <p:font typeface="Nunito"/>
      <p:regular r:id="rId11"/>
      <p:bold r:id="rId12"/>
      <p:italic r:id="rId13"/>
      <p:boldItalic r:id="rId1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font" Target="fonts/Nunito-regular.fntdata"/><Relationship Id="rId10" Type="http://schemas.openxmlformats.org/officeDocument/2006/relationships/slide" Target="slides/slide5.xml"/><Relationship Id="rId13" Type="http://schemas.openxmlformats.org/officeDocument/2006/relationships/font" Target="fonts/Nunito-italic.fntdata"/><Relationship Id="rId12" Type="http://schemas.openxmlformats.org/officeDocument/2006/relationships/font" Target="fonts/Nunito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font" Target="fonts/Nunito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c6f80d1ff_0_0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c6f80d1f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c6f80d1ff_0_5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c6f80d1ff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c6f80d1ff_0_10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c6f80d1ff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48534b134c_1_2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348534b134c_1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c6f80d1ff_0_66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c6f80d1ff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accent6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" name="Google Shape;11;p2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" name="Google Shape;12;p2"/>
          <p:cNvSpPr/>
          <p:nvPr/>
        </p:nvSpPr>
        <p:spPr>
          <a:xfrm rot="10800000">
            <a:off x="5058905" y="0"/>
            <a:ext cx="4085100" cy="20526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20327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4" name="Google Shape;14;p2"/>
          <p:cNvGrpSpPr/>
          <p:nvPr/>
        </p:nvGrpSpPr>
        <p:grpSpPr>
          <a:xfrm>
            <a:off x="255200" y="592"/>
            <a:ext cx="2250363" cy="1044300"/>
            <a:chOff x="255200" y="592"/>
            <a:chExt cx="2250363" cy="1044300"/>
          </a:xfrm>
        </p:grpSpPr>
        <p:sp>
          <p:nvSpPr>
            <p:cNvPr id="15" name="Google Shape;15;p2"/>
            <p:cNvSpPr/>
            <p:nvPr/>
          </p:nvSpPr>
          <p:spPr>
            <a:xfrm>
              <a:off x="764063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509632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255200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8" name="Google Shape;18;p2"/>
          <p:cNvGrpSpPr/>
          <p:nvPr/>
        </p:nvGrpSpPr>
        <p:grpSpPr>
          <a:xfrm>
            <a:off x="905395" y="592"/>
            <a:ext cx="2250363" cy="1044300"/>
            <a:chOff x="905395" y="592"/>
            <a:chExt cx="2250363" cy="1044300"/>
          </a:xfrm>
        </p:grpSpPr>
        <p:sp>
          <p:nvSpPr>
            <p:cNvPr id="19" name="Google Shape;19;p2"/>
            <p:cNvSpPr/>
            <p:nvPr/>
          </p:nvSpPr>
          <p:spPr>
            <a:xfrm>
              <a:off x="1414258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1159826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905395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2" name="Google Shape;22;p2"/>
          <p:cNvGrpSpPr/>
          <p:nvPr/>
        </p:nvGrpSpPr>
        <p:grpSpPr>
          <a:xfrm>
            <a:off x="7057468" y="5088"/>
            <a:ext cx="1851282" cy="752108"/>
            <a:chOff x="6917201" y="0"/>
            <a:chExt cx="2227777" cy="863400"/>
          </a:xfrm>
        </p:grpSpPr>
        <p:sp>
          <p:nvSpPr>
            <p:cNvPr id="23" name="Google Shape;23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6" name="Google Shape;26;p2"/>
          <p:cNvGrpSpPr/>
          <p:nvPr/>
        </p:nvGrpSpPr>
        <p:grpSpPr>
          <a:xfrm>
            <a:off x="6553032" y="4217852"/>
            <a:ext cx="2389068" cy="925737"/>
            <a:chOff x="6917201" y="0"/>
            <a:chExt cx="2227777" cy="863400"/>
          </a:xfrm>
        </p:grpSpPr>
        <p:sp>
          <p:nvSpPr>
            <p:cNvPr id="27" name="Google Shape;27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0" name="Google Shape;30;p2"/>
          <p:cNvGrpSpPr/>
          <p:nvPr/>
        </p:nvGrpSpPr>
        <p:grpSpPr>
          <a:xfrm>
            <a:off x="199149" y="4055652"/>
            <a:ext cx="2795414" cy="1083308"/>
            <a:chOff x="6917201" y="0"/>
            <a:chExt cx="2227777" cy="863400"/>
          </a:xfrm>
        </p:grpSpPr>
        <p:sp>
          <p:nvSpPr>
            <p:cNvPr id="31" name="Google Shape;31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4" name="Google Shape;34;p2"/>
          <p:cNvSpPr txBox="1"/>
          <p:nvPr>
            <p:ph type="ctrTitle"/>
          </p:nvPr>
        </p:nvSpPr>
        <p:spPr>
          <a:xfrm>
            <a:off x="1858703" y="1822833"/>
            <a:ext cx="5361300" cy="144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1pPr>
            <a:lvl2pPr lvl="1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9pPr>
          </a:lstStyle>
          <a:p/>
        </p:txBody>
      </p:sp>
      <p:sp>
        <p:nvSpPr>
          <p:cNvPr id="35" name="Google Shape;35;p2"/>
          <p:cNvSpPr txBox="1"/>
          <p:nvPr>
            <p:ph idx="1" type="subTitle"/>
          </p:nvPr>
        </p:nvSpPr>
        <p:spPr>
          <a:xfrm>
            <a:off x="1858700" y="3413158"/>
            <a:ext cx="5361300" cy="52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6" name="Google Shape;36;p2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accent3"/>
        </a:solidFill>
      </p:bgPr>
    </p:bg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3"/>
          <p:cNvSpPr/>
          <p:nvPr/>
        </p:nvSpPr>
        <p:spPr>
          <a:xfrm flipH="1">
            <a:off x="4757100" y="2309400"/>
            <a:ext cx="4386900" cy="2834100"/>
          </a:xfrm>
          <a:prstGeom prst="rtTriangle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9" name="Google Shape;39;p3"/>
          <p:cNvGrpSpPr/>
          <p:nvPr/>
        </p:nvGrpSpPr>
        <p:grpSpPr>
          <a:xfrm>
            <a:off x="5594191" y="3961115"/>
            <a:ext cx="2910145" cy="1182340"/>
            <a:chOff x="6917201" y="0"/>
            <a:chExt cx="2227777" cy="863400"/>
          </a:xfrm>
        </p:grpSpPr>
        <p:sp>
          <p:nvSpPr>
            <p:cNvPr id="40" name="Google Shape;40;p3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" name="Google Shape;41;p3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" name="Google Shape;42;p3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3" name="Google Shape;43;p3"/>
          <p:cNvGrpSpPr/>
          <p:nvPr/>
        </p:nvGrpSpPr>
        <p:grpSpPr>
          <a:xfrm>
            <a:off x="199149" y="2"/>
            <a:ext cx="2795414" cy="1083308"/>
            <a:chOff x="6917201" y="0"/>
            <a:chExt cx="2227777" cy="863400"/>
          </a:xfrm>
        </p:grpSpPr>
        <p:sp>
          <p:nvSpPr>
            <p:cNvPr id="44" name="Google Shape;44;p3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" name="Google Shape;45;p3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" name="Google Shape;46;p3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7" name="Google Shape;47;p3"/>
          <p:cNvSpPr txBox="1"/>
          <p:nvPr>
            <p:ph type="title"/>
          </p:nvPr>
        </p:nvSpPr>
        <p:spPr>
          <a:xfrm>
            <a:off x="1888684" y="1746100"/>
            <a:ext cx="5377500" cy="1646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48" name="Google Shape;48;p3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bg>
      <p:bgPr>
        <a:solidFill>
          <a:schemeClr val="dk2"/>
        </a:solidFill>
      </p:bgPr>
    </p:bg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4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4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4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" name="Google Shape;53;p4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54" name="Google Shape;54;p4"/>
          <p:cNvSpPr txBox="1"/>
          <p:nvPr>
            <p:ph idx="1" type="body"/>
          </p:nvPr>
        </p:nvSpPr>
        <p:spPr>
          <a:xfrm>
            <a:off x="819150" y="1990725"/>
            <a:ext cx="75057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5" name="Google Shape;55;p4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bg>
      <p:bgPr>
        <a:solidFill>
          <a:schemeClr val="dk2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5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5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5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5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61" name="Google Shape;61;p5"/>
          <p:cNvSpPr txBox="1"/>
          <p:nvPr>
            <p:ph idx="1" type="body"/>
          </p:nvPr>
        </p:nvSpPr>
        <p:spPr>
          <a:xfrm>
            <a:off x="819150" y="1990725"/>
            <a:ext cx="36861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2" name="Google Shape;62;p5"/>
          <p:cNvSpPr txBox="1"/>
          <p:nvPr>
            <p:ph idx="2" type="body"/>
          </p:nvPr>
        </p:nvSpPr>
        <p:spPr>
          <a:xfrm>
            <a:off x="4638675" y="1990725"/>
            <a:ext cx="36861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3" name="Google Shape;63;p5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bg>
      <p:bgPr>
        <a:solidFill>
          <a:schemeClr val="dk2"/>
        </a:solidFill>
      </p:bgPr>
    </p:bg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6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6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6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" name="Google Shape;68;p6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69" name="Google Shape;69;p6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bg>
      <p:bgPr>
        <a:solidFill>
          <a:schemeClr val="accent3"/>
        </a:solid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7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7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7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7"/>
          <p:cNvSpPr txBox="1"/>
          <p:nvPr>
            <p:ph type="title"/>
          </p:nvPr>
        </p:nvSpPr>
        <p:spPr>
          <a:xfrm>
            <a:off x="819150" y="845600"/>
            <a:ext cx="3709200" cy="138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75" name="Google Shape;75;p7"/>
          <p:cNvSpPr txBox="1"/>
          <p:nvPr>
            <p:ph idx="1" type="body"/>
          </p:nvPr>
        </p:nvSpPr>
        <p:spPr>
          <a:xfrm>
            <a:off x="830700" y="2319050"/>
            <a:ext cx="3709200" cy="211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76" name="Google Shape;76;p7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dk1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8"/>
          <p:cNvSpPr/>
          <p:nvPr/>
        </p:nvSpPr>
        <p:spPr>
          <a:xfrm>
            <a:off x="0" y="2823144"/>
            <a:ext cx="7369200" cy="23169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8"/>
          <p:cNvSpPr/>
          <p:nvPr/>
        </p:nvSpPr>
        <p:spPr>
          <a:xfrm flipH="1">
            <a:off x="3583210" y="1554113"/>
            <a:ext cx="5560500" cy="35895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80" name="Google Shape;80;p8"/>
          <p:cNvGrpSpPr/>
          <p:nvPr/>
        </p:nvGrpSpPr>
        <p:grpSpPr>
          <a:xfrm>
            <a:off x="255991" y="-118"/>
            <a:ext cx="2251347" cy="1043408"/>
            <a:chOff x="3961956" y="4383950"/>
            <a:chExt cx="1160548" cy="548700"/>
          </a:xfrm>
        </p:grpSpPr>
        <p:sp>
          <p:nvSpPr>
            <p:cNvPr id="81" name="Google Shape;81;p8"/>
            <p:cNvSpPr/>
            <p:nvPr/>
          </p:nvSpPr>
          <p:spPr>
            <a:xfrm>
              <a:off x="4224904" y="4383950"/>
              <a:ext cx="897600" cy="5487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>
              <a:off x="4093430" y="4383950"/>
              <a:ext cx="897600" cy="5487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>
              <a:off x="3961956" y="4383950"/>
              <a:ext cx="897600" cy="5487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84" name="Google Shape;84;p8"/>
          <p:cNvGrpSpPr/>
          <p:nvPr/>
        </p:nvGrpSpPr>
        <p:grpSpPr>
          <a:xfrm>
            <a:off x="34934" y="4522125"/>
            <a:ext cx="1593306" cy="617072"/>
            <a:chOff x="6917201" y="0"/>
            <a:chExt cx="2227777" cy="863400"/>
          </a:xfrm>
        </p:grpSpPr>
        <p:sp>
          <p:nvSpPr>
            <p:cNvPr id="85" name="Google Shape;85;p8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" name="Google Shape;86;p8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88" name="Google Shape;88;p8"/>
          <p:cNvGrpSpPr/>
          <p:nvPr/>
        </p:nvGrpSpPr>
        <p:grpSpPr>
          <a:xfrm>
            <a:off x="5886353" y="1243"/>
            <a:ext cx="3257455" cy="1261514"/>
            <a:chOff x="6917201" y="0"/>
            <a:chExt cx="2227777" cy="863400"/>
          </a:xfrm>
        </p:grpSpPr>
        <p:sp>
          <p:nvSpPr>
            <p:cNvPr id="89" name="Google Shape;89;p8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" name="Google Shape;90;p8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" name="Google Shape;91;p8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2" name="Google Shape;92;p8"/>
          <p:cNvSpPr txBox="1"/>
          <p:nvPr>
            <p:ph type="title"/>
          </p:nvPr>
        </p:nvSpPr>
        <p:spPr>
          <a:xfrm>
            <a:off x="1393929" y="1301146"/>
            <a:ext cx="6366900" cy="2539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sp>
        <p:nvSpPr>
          <p:cNvPr id="93" name="Google Shape;93;p8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bg>
      <p:bgPr>
        <a:solidFill>
          <a:schemeClr val="dk2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9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9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9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9"/>
          <p:cNvSpPr txBox="1"/>
          <p:nvPr>
            <p:ph type="title"/>
          </p:nvPr>
        </p:nvSpPr>
        <p:spPr>
          <a:xfrm>
            <a:off x="819150" y="845600"/>
            <a:ext cx="6424200" cy="70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99" name="Google Shape;99;p9"/>
          <p:cNvSpPr txBox="1"/>
          <p:nvPr>
            <p:ph idx="1" type="subTitle"/>
          </p:nvPr>
        </p:nvSpPr>
        <p:spPr>
          <a:xfrm>
            <a:off x="819150" y="1550700"/>
            <a:ext cx="58599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0" name="Google Shape;100;p9"/>
          <p:cNvSpPr txBox="1"/>
          <p:nvPr>
            <p:ph idx="2" type="body"/>
          </p:nvPr>
        </p:nvSpPr>
        <p:spPr>
          <a:xfrm>
            <a:off x="819150" y="2467050"/>
            <a:ext cx="5859900" cy="209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01" name="Google Shape;101;p9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bg>
      <p:bgPr>
        <a:solidFill>
          <a:schemeClr val="accent1"/>
        </a:solidFill>
      </p:bgPr>
    </p:bg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0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10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10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10"/>
          <p:cNvSpPr txBox="1"/>
          <p:nvPr>
            <p:ph idx="1" type="body"/>
          </p:nvPr>
        </p:nvSpPr>
        <p:spPr>
          <a:xfrm>
            <a:off x="328025" y="4163500"/>
            <a:ext cx="7415100" cy="605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107" name="Google Shape;107;p10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accent3"/>
        </a:solidFill>
      </p:bgPr>
    </p:bg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1"/>
          <p:cNvSpPr/>
          <p:nvPr/>
        </p:nvSpPr>
        <p:spPr>
          <a:xfrm flipH="1">
            <a:off x="5569200" y="2834075"/>
            <a:ext cx="3574800" cy="2309400"/>
          </a:xfrm>
          <a:prstGeom prst="rtTriangle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0" name="Google Shape;110;p11"/>
          <p:cNvGrpSpPr/>
          <p:nvPr/>
        </p:nvGrpSpPr>
        <p:grpSpPr>
          <a:xfrm>
            <a:off x="5959222" y="4119576"/>
            <a:ext cx="2520952" cy="1024165"/>
            <a:chOff x="6917201" y="0"/>
            <a:chExt cx="2227777" cy="863400"/>
          </a:xfrm>
        </p:grpSpPr>
        <p:sp>
          <p:nvSpPr>
            <p:cNvPr id="111" name="Google Shape;111;p11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" name="Google Shape;112;p11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4" name="Google Shape;114;p11"/>
          <p:cNvGrpSpPr/>
          <p:nvPr/>
        </p:nvGrpSpPr>
        <p:grpSpPr>
          <a:xfrm>
            <a:off x="199149" y="2"/>
            <a:ext cx="2795414" cy="1083308"/>
            <a:chOff x="6917201" y="0"/>
            <a:chExt cx="2227777" cy="863400"/>
          </a:xfrm>
        </p:grpSpPr>
        <p:sp>
          <p:nvSpPr>
            <p:cNvPr id="115" name="Google Shape;115;p11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" name="Google Shape;116;p11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18" name="Google Shape;118;p11"/>
          <p:cNvSpPr txBox="1"/>
          <p:nvPr>
            <p:ph hasCustomPrompt="1" type="title"/>
          </p:nvPr>
        </p:nvSpPr>
        <p:spPr>
          <a:xfrm>
            <a:off x="1385850" y="1383850"/>
            <a:ext cx="6372300" cy="1379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19" name="Google Shape;119;p11"/>
          <p:cNvSpPr txBox="1"/>
          <p:nvPr>
            <p:ph idx="1" type="body"/>
          </p:nvPr>
        </p:nvSpPr>
        <p:spPr>
          <a:xfrm>
            <a:off x="1385850" y="2863850"/>
            <a:ext cx="6372300" cy="64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 algn="ctr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20" name="Google Shape;120;p11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2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hift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39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Calibri"/>
              <a:buChar char="●"/>
              <a:defRPr sz="13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●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●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Relationship Id="rId3" Type="http://schemas.openxmlformats.org/officeDocument/2006/relationships/hyperlink" Target="http://paulotavaresw63gmail.com" TargetMode="External"/><Relationship Id="rId4" Type="http://schemas.openxmlformats.org/officeDocument/2006/relationships/hyperlink" Target="mailto:tavarespaulosilas@gmail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3"/>
          <p:cNvSpPr txBox="1"/>
          <p:nvPr>
            <p:ph type="ctrTitle"/>
          </p:nvPr>
        </p:nvSpPr>
        <p:spPr>
          <a:xfrm>
            <a:off x="1787928" y="1563308"/>
            <a:ext cx="5361300" cy="144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4300">
                <a:latin typeface="Georgia"/>
                <a:ea typeface="Georgia"/>
                <a:cs typeface="Georgia"/>
                <a:sym typeface="Georgia"/>
              </a:rPr>
              <a:t>Paulo Silas Tavares</a:t>
            </a:r>
            <a:endParaRPr b="1" sz="4300">
              <a:latin typeface="Georgia"/>
              <a:ea typeface="Georgia"/>
              <a:cs typeface="Georgia"/>
              <a:sym typeface="Georgi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4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>
                <a:latin typeface="Georgia"/>
                <a:ea typeface="Georgia"/>
                <a:cs typeface="Georgia"/>
                <a:sym typeface="Georgia"/>
              </a:rPr>
              <a:t>Sobre mim</a:t>
            </a:r>
            <a:endParaRPr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133" name="Google Shape;133;p14"/>
          <p:cNvSpPr txBox="1"/>
          <p:nvPr>
            <p:ph idx="1" type="body"/>
          </p:nvPr>
        </p:nvSpPr>
        <p:spPr>
          <a:xfrm>
            <a:off x="740500" y="1644675"/>
            <a:ext cx="75057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None/>
            </a:pPr>
            <a:r>
              <a:rPr lang="pt-BR" sz="1400">
                <a:latin typeface="Arial"/>
                <a:ea typeface="Arial"/>
                <a:cs typeface="Arial"/>
                <a:sym typeface="Arial"/>
              </a:rPr>
              <a:t>Sou uma pessoa alegre, simpático e cheia de vontade de aprender mais, conhecer como as coisas funcionam, principalmente na </a:t>
            </a:r>
            <a:r>
              <a:rPr lang="pt-BR" sz="1400">
                <a:latin typeface="Arial"/>
                <a:ea typeface="Arial"/>
                <a:cs typeface="Arial"/>
                <a:sym typeface="Arial"/>
              </a:rPr>
              <a:t>área</a:t>
            </a:r>
            <a:r>
              <a:rPr lang="pt-BR" sz="1400">
                <a:latin typeface="Arial"/>
                <a:ea typeface="Arial"/>
                <a:cs typeface="Arial"/>
                <a:sym typeface="Arial"/>
              </a:rPr>
              <a:t> da tecnologia.  Me considero uma pessoa criativa, responsável, companheiro e comunicativo.Tenho certa facilidade em </a:t>
            </a:r>
            <a:r>
              <a:rPr lang="pt-BR" sz="1400">
                <a:latin typeface="Arial"/>
                <a:ea typeface="Arial"/>
                <a:cs typeface="Arial"/>
                <a:sym typeface="Arial"/>
              </a:rPr>
              <a:t>entender</a:t>
            </a:r>
            <a:r>
              <a:rPr lang="pt-BR" sz="1400">
                <a:latin typeface="Arial"/>
                <a:ea typeface="Arial"/>
                <a:cs typeface="Arial"/>
                <a:sym typeface="Arial"/>
              </a:rPr>
              <a:t> a Lógicas das coisas. Tenho um pensamento acelerado e bem produtivo. Essas são as minhas principais qualificações como profissional e como pessoa.</a:t>
            </a: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t-BR" sz="1400">
                <a:latin typeface="Arial"/>
                <a:ea typeface="Arial"/>
                <a:cs typeface="Arial"/>
                <a:sym typeface="Arial"/>
              </a:rPr>
              <a:t>Cresci em Padre Bernardo-Goiás, e estou com uma grande expectativa para essa nova jornada em </a:t>
            </a:r>
            <a:r>
              <a:rPr lang="pt-BR" sz="1400">
                <a:latin typeface="Arial"/>
                <a:ea typeface="Arial"/>
                <a:cs typeface="Arial"/>
                <a:sym typeface="Arial"/>
              </a:rPr>
              <a:t>Brasília</a:t>
            </a:r>
            <a:r>
              <a:rPr lang="pt-BR" sz="1400">
                <a:latin typeface="Arial"/>
                <a:ea typeface="Arial"/>
                <a:cs typeface="Arial"/>
                <a:sym typeface="Arial"/>
              </a:rPr>
              <a:t> no curso de </a:t>
            </a:r>
            <a:r>
              <a:rPr lang="pt-BR" sz="1400">
                <a:latin typeface="Arial"/>
                <a:ea typeface="Arial"/>
                <a:cs typeface="Arial"/>
                <a:sym typeface="Arial"/>
              </a:rPr>
              <a:t>Ciência</a:t>
            </a:r>
            <a:r>
              <a:rPr lang="pt-BR" sz="1400">
                <a:latin typeface="Arial"/>
                <a:ea typeface="Arial"/>
                <a:cs typeface="Arial"/>
                <a:sym typeface="Arial"/>
              </a:rPr>
              <a:t> da Computação!</a:t>
            </a:r>
            <a:endParaRPr sz="14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8" name="Google Shape;138;p15"/>
          <p:cNvCxnSpPr/>
          <p:nvPr/>
        </p:nvCxnSpPr>
        <p:spPr>
          <a:xfrm>
            <a:off x="-6875" y="2900700"/>
            <a:ext cx="9150900" cy="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9" name="Google Shape;139;p15"/>
          <p:cNvSpPr txBox="1"/>
          <p:nvPr>
            <p:ph type="title"/>
          </p:nvPr>
        </p:nvSpPr>
        <p:spPr>
          <a:xfrm>
            <a:off x="271400" y="618475"/>
            <a:ext cx="75057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>
                <a:latin typeface="Georgia"/>
                <a:ea typeface="Georgia"/>
                <a:cs typeface="Georgia"/>
                <a:sym typeface="Georgia"/>
              </a:rPr>
              <a:t>Habilidades e competências</a:t>
            </a:r>
            <a:endParaRPr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140" name="Google Shape;140;p15"/>
          <p:cNvSpPr/>
          <p:nvPr/>
        </p:nvSpPr>
        <p:spPr>
          <a:xfrm>
            <a:off x="421175" y="2154925"/>
            <a:ext cx="1482000" cy="14106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15"/>
          <p:cNvSpPr txBox="1"/>
          <p:nvPr/>
        </p:nvSpPr>
        <p:spPr>
          <a:xfrm>
            <a:off x="421225" y="2571750"/>
            <a:ext cx="1482000" cy="63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00"/>
              <a:t>Criatividade</a:t>
            </a:r>
            <a:endParaRPr sz="1900"/>
          </a:p>
        </p:txBody>
      </p:sp>
      <p:sp>
        <p:nvSpPr>
          <p:cNvPr id="142" name="Google Shape;142;p15"/>
          <p:cNvSpPr/>
          <p:nvPr/>
        </p:nvSpPr>
        <p:spPr>
          <a:xfrm>
            <a:off x="2446025" y="1701400"/>
            <a:ext cx="2592600" cy="24495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15"/>
          <p:cNvSpPr/>
          <p:nvPr/>
        </p:nvSpPr>
        <p:spPr>
          <a:xfrm>
            <a:off x="5337950" y="2026350"/>
            <a:ext cx="1692600" cy="17235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Organização</a:t>
            </a:r>
            <a:endParaRPr/>
          </a:p>
        </p:txBody>
      </p:sp>
      <p:sp>
        <p:nvSpPr>
          <p:cNvPr id="144" name="Google Shape;144;p15"/>
          <p:cNvSpPr/>
          <p:nvPr/>
        </p:nvSpPr>
        <p:spPr>
          <a:xfrm>
            <a:off x="7322010" y="2075509"/>
            <a:ext cx="1541400" cy="14106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15"/>
          <p:cNvSpPr txBox="1"/>
          <p:nvPr/>
        </p:nvSpPr>
        <p:spPr>
          <a:xfrm>
            <a:off x="7407425" y="2334150"/>
            <a:ext cx="1386300" cy="78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/>
              <a:t>Produtividade</a:t>
            </a:r>
            <a:endParaRPr sz="1500"/>
          </a:p>
        </p:txBody>
      </p:sp>
      <p:sp>
        <p:nvSpPr>
          <p:cNvPr id="146" name="Google Shape;146;p15"/>
          <p:cNvSpPr txBox="1"/>
          <p:nvPr/>
        </p:nvSpPr>
        <p:spPr>
          <a:xfrm>
            <a:off x="1355075" y="729937"/>
            <a:ext cx="80460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5"/>
          <p:cNvSpPr txBox="1"/>
          <p:nvPr/>
        </p:nvSpPr>
        <p:spPr>
          <a:xfrm>
            <a:off x="7414450" y="4150900"/>
            <a:ext cx="17595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15"/>
          <p:cNvSpPr txBox="1"/>
          <p:nvPr/>
        </p:nvSpPr>
        <p:spPr>
          <a:xfrm>
            <a:off x="2830075" y="2383077"/>
            <a:ext cx="1951800" cy="95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500">
                <a:latin typeface="Calibri"/>
                <a:ea typeface="Calibri"/>
                <a:cs typeface="Calibri"/>
                <a:sym typeface="Calibri"/>
              </a:rPr>
              <a:t>Raciocínio</a:t>
            </a:r>
            <a:r>
              <a:rPr lang="pt-BR" sz="2500">
                <a:latin typeface="Calibri"/>
                <a:ea typeface="Calibri"/>
                <a:cs typeface="Calibri"/>
                <a:sym typeface="Calibri"/>
              </a:rPr>
              <a:t> Lógico</a:t>
            </a:r>
            <a:endParaRPr sz="25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accent6"/>
        </a:solid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16"/>
          <p:cNvSpPr txBox="1"/>
          <p:nvPr>
            <p:ph type="title"/>
          </p:nvPr>
        </p:nvSpPr>
        <p:spPr>
          <a:xfrm>
            <a:off x="819150" y="7704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>
                <a:latin typeface="Georgia"/>
                <a:ea typeface="Georgia"/>
                <a:cs typeface="Georgia"/>
                <a:sym typeface="Georgia"/>
              </a:rPr>
              <a:t>Programa de Ló</a:t>
            </a:r>
            <a:r>
              <a:rPr b="1" lang="pt-BR">
                <a:latin typeface="Georgia"/>
                <a:ea typeface="Georgia"/>
                <a:cs typeface="Georgia"/>
                <a:sym typeface="Georgia"/>
              </a:rPr>
              <a:t>gica</a:t>
            </a:r>
            <a:r>
              <a:rPr b="1" lang="pt-BR">
                <a:latin typeface="Georgia"/>
                <a:ea typeface="Georgia"/>
                <a:cs typeface="Georgia"/>
                <a:sym typeface="Georgia"/>
              </a:rPr>
              <a:t>: Linguagem C</a:t>
            </a:r>
            <a:endParaRPr b="1"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154" name="Google Shape;154;p16"/>
          <p:cNvSpPr txBox="1"/>
          <p:nvPr>
            <p:ph idx="1" type="body"/>
          </p:nvPr>
        </p:nvSpPr>
        <p:spPr>
          <a:xfrm>
            <a:off x="819150" y="1990725"/>
            <a:ext cx="36861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pt-BR" sz="1400">
                <a:latin typeface="Arial"/>
                <a:ea typeface="Arial"/>
                <a:cs typeface="Arial"/>
                <a:sym typeface="Arial"/>
              </a:rPr>
              <a:t>Atualmente, eu tenho aprendido muitas coisas novas de </a:t>
            </a:r>
            <a:r>
              <a:rPr lang="pt-BR" sz="1400">
                <a:latin typeface="Arial"/>
                <a:ea typeface="Arial"/>
                <a:cs typeface="Arial"/>
                <a:sym typeface="Arial"/>
              </a:rPr>
              <a:t>Lógica</a:t>
            </a:r>
            <a:r>
              <a:rPr lang="pt-BR" sz="1400">
                <a:latin typeface="Arial"/>
                <a:ea typeface="Arial"/>
                <a:cs typeface="Arial"/>
                <a:sym typeface="Arial"/>
              </a:rPr>
              <a:t> de </a:t>
            </a:r>
            <a:r>
              <a:rPr lang="pt-BR" sz="1400">
                <a:latin typeface="Arial"/>
                <a:ea typeface="Arial"/>
                <a:cs typeface="Arial"/>
                <a:sym typeface="Arial"/>
              </a:rPr>
              <a:t>Programação</a:t>
            </a:r>
            <a:r>
              <a:rPr lang="pt-BR" sz="1400">
                <a:latin typeface="Arial"/>
                <a:ea typeface="Arial"/>
                <a:cs typeface="Arial"/>
                <a:sym typeface="Arial"/>
              </a:rPr>
              <a:t> na L</a:t>
            </a:r>
            <a:r>
              <a:rPr lang="pt-BR" sz="1400">
                <a:latin typeface="Arial"/>
                <a:ea typeface="Arial"/>
                <a:cs typeface="Arial"/>
                <a:sym typeface="Arial"/>
              </a:rPr>
              <a:t>inguagem</a:t>
            </a:r>
            <a:r>
              <a:rPr lang="pt-BR" sz="1400">
                <a:latin typeface="Arial"/>
                <a:ea typeface="Arial"/>
                <a:cs typeface="Arial"/>
                <a:sym typeface="Arial"/>
              </a:rPr>
              <a:t> C. Antes de iniciar o </a:t>
            </a:r>
            <a:r>
              <a:rPr lang="pt-BR" sz="1400">
                <a:latin typeface="Arial"/>
                <a:ea typeface="Arial"/>
                <a:cs typeface="Arial"/>
                <a:sym typeface="Arial"/>
              </a:rPr>
              <a:t>curso</a:t>
            </a:r>
            <a:r>
              <a:rPr lang="pt-BR" sz="1400">
                <a:latin typeface="Arial"/>
                <a:ea typeface="Arial"/>
                <a:cs typeface="Arial"/>
                <a:sym typeface="Arial"/>
              </a:rPr>
              <a:t> eu </a:t>
            </a:r>
            <a:r>
              <a:rPr lang="pt-BR" sz="1400">
                <a:latin typeface="Arial"/>
                <a:ea typeface="Arial"/>
                <a:cs typeface="Arial"/>
                <a:sym typeface="Arial"/>
              </a:rPr>
              <a:t>já</a:t>
            </a:r>
            <a:r>
              <a:rPr lang="pt-BR" sz="1400">
                <a:latin typeface="Arial"/>
                <a:ea typeface="Arial"/>
                <a:cs typeface="Arial"/>
                <a:sym typeface="Arial"/>
              </a:rPr>
              <a:t> tinha um contato com Desenvolvimento Front-end tendo feito um curso Básico deste tipo de </a:t>
            </a:r>
            <a:r>
              <a:rPr lang="pt-BR" sz="1400">
                <a:latin typeface="Arial"/>
                <a:ea typeface="Arial"/>
                <a:cs typeface="Arial"/>
                <a:sym typeface="Arial"/>
              </a:rPr>
              <a:t>Linguagem</a:t>
            </a:r>
            <a:r>
              <a:rPr lang="pt-BR" sz="1400">
                <a:latin typeface="Arial"/>
                <a:ea typeface="Arial"/>
                <a:cs typeface="Arial"/>
                <a:sym typeface="Arial"/>
              </a:rPr>
              <a:t> de Alto Nível, </a:t>
            </a:r>
            <a:r>
              <a:rPr lang="pt-BR" sz="1400">
                <a:latin typeface="Arial"/>
                <a:ea typeface="Arial"/>
                <a:cs typeface="Arial"/>
                <a:sym typeface="Arial"/>
              </a:rPr>
              <a:t>principalmente</a:t>
            </a:r>
            <a:r>
              <a:rPr lang="pt-BR" sz="1400"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pt-BR" sz="1400">
                <a:latin typeface="Arial"/>
                <a:ea typeface="Arial"/>
                <a:cs typeface="Arial"/>
                <a:sym typeface="Arial"/>
              </a:rPr>
              <a:t>Javascript</a:t>
            </a:r>
            <a:r>
              <a:rPr lang="pt-BR" sz="1400">
                <a:latin typeface="Arial"/>
                <a:ea typeface="Arial"/>
                <a:cs typeface="Arial"/>
                <a:sym typeface="Arial"/>
              </a:rPr>
              <a:t> .</a:t>
            </a:r>
            <a:endParaRPr sz="140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livre php fotos | Piqsels" id="155" name="Google Shape;155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74400" y="1990725"/>
            <a:ext cx="3160876" cy="2177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accent2"/>
        </a:solid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7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>
                <a:latin typeface="Impact"/>
                <a:ea typeface="Impact"/>
                <a:cs typeface="Impact"/>
                <a:sym typeface="Impact"/>
              </a:rPr>
              <a:t>Contato</a:t>
            </a:r>
            <a:endParaRPr>
              <a:latin typeface="Impact"/>
              <a:ea typeface="Impact"/>
              <a:cs typeface="Impact"/>
              <a:sym typeface="Impact"/>
            </a:endParaRPr>
          </a:p>
        </p:txBody>
      </p:sp>
      <p:sp>
        <p:nvSpPr>
          <p:cNvPr id="161" name="Google Shape;161;p17"/>
          <p:cNvSpPr txBox="1"/>
          <p:nvPr>
            <p:ph idx="1" type="body"/>
          </p:nvPr>
        </p:nvSpPr>
        <p:spPr>
          <a:xfrm>
            <a:off x="771950" y="1675550"/>
            <a:ext cx="36861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600"/>
              <a:t>E-mail Pessoal:</a:t>
            </a:r>
            <a:endParaRPr b="1"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u="sng">
                <a:solidFill>
                  <a:schemeClr val="hlink"/>
                </a:solidFill>
                <a:hlinkClick r:id="rId3"/>
              </a:rPr>
              <a:t>paulotavaresw63gmail.com</a:t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600"/>
              <a:t>E-mail Profissional:</a:t>
            </a:r>
            <a:endParaRPr b="1"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u="sng">
                <a:solidFill>
                  <a:schemeClr val="hlink"/>
                </a:solidFill>
                <a:hlinkClick r:id="rId4"/>
              </a:rPr>
              <a:t>tavarespaulosilas@gmail.com</a:t>
            </a:r>
            <a:endParaRPr b="1"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600"/>
              <a:t>Telefone</a:t>
            </a:r>
            <a:endParaRPr b="1"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/>
              <a:t>(61) 9 96674491</a:t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</p:txBody>
      </p:sp>
      <p:sp>
        <p:nvSpPr>
          <p:cNvPr id="162" name="Google Shape;162;p17"/>
          <p:cNvSpPr txBox="1"/>
          <p:nvPr/>
        </p:nvSpPr>
        <p:spPr>
          <a:xfrm>
            <a:off x="7023425" y="2707100"/>
            <a:ext cx="21507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7"/>
          <p:cNvSpPr txBox="1"/>
          <p:nvPr/>
        </p:nvSpPr>
        <p:spPr>
          <a:xfrm>
            <a:off x="4515600" y="1730600"/>
            <a:ext cx="37149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7"/>
          <p:cNvSpPr txBox="1"/>
          <p:nvPr/>
        </p:nvSpPr>
        <p:spPr>
          <a:xfrm>
            <a:off x="5970675" y="3158300"/>
            <a:ext cx="32034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hift">
  <a:themeElements>
    <a:clrScheme name="Shift">
      <a:dk1>
        <a:srgbClr val="FFFFFF"/>
      </a:dk1>
      <a:lt1>
        <a:srgbClr val="AF7B51"/>
      </a:lt1>
      <a:dk2>
        <a:srgbClr val="233A44"/>
      </a:dk2>
      <a:lt2>
        <a:srgbClr val="D9D9D9"/>
      </a:lt2>
      <a:accent1>
        <a:srgbClr val="00796B"/>
      </a:accent1>
      <a:accent2>
        <a:srgbClr val="D9563F"/>
      </a:accent2>
      <a:accent3>
        <a:srgbClr val="C4A15A"/>
      </a:accent3>
      <a:accent4>
        <a:srgbClr val="14F597"/>
      </a:accent4>
      <a:accent5>
        <a:srgbClr val="3D4594"/>
      </a:accent5>
      <a:accent6>
        <a:srgbClr val="163EF5"/>
      </a:accent6>
      <a:hlink>
        <a:srgbClr val="3D4594"/>
      </a:hlink>
      <a:folHlink>
        <a:srgbClr val="3D459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